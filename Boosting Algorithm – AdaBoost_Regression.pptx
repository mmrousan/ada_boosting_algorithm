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6" r:id="rId5"/>
    <p:sldId id="266" r:id="rId6"/>
    <p:sldId id="1519" r:id="rId7"/>
    <p:sldId id="1520" r:id="rId8"/>
    <p:sldId id="1515" r:id="rId9"/>
    <p:sldId id="1521" r:id="rId10"/>
    <p:sldId id="1517" r:id="rId11"/>
    <p:sldId id="151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58"/>
  </p:normalViewPr>
  <p:slideViewPr>
    <p:cSldViewPr snapToGrid="0">
      <p:cViewPr varScale="1">
        <p:scale>
          <a:sx n="81" d="100"/>
          <a:sy n="81" d="100"/>
        </p:scale>
        <p:origin x="67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7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42933A2-1FD7-4969-BD70-61DCB5EEC2C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D0CD137-BC83-4923-ACA1-367A9E2E2BA1}">
      <dgm:prSet/>
      <dgm:spPr/>
      <dgm:t>
        <a:bodyPr/>
        <a:lstStyle/>
        <a:p>
          <a:r>
            <a:rPr lang="en-US" b="1" dirty="0"/>
            <a:t>Sequential Training:</a:t>
          </a:r>
          <a:r>
            <a:rPr lang="en-US" dirty="0"/>
            <a:t> It builds models one after another. The first model makes a prediction on the dataset. </a:t>
          </a:r>
        </a:p>
      </dgm:t>
    </dgm:pt>
    <dgm:pt modelId="{DB9F8AA0-1E13-42A0-A987-85168EFB6B3D}" type="parTrans" cxnId="{121E6A5D-ACD4-4A3F-AA34-8E84F38E4181}">
      <dgm:prSet/>
      <dgm:spPr/>
      <dgm:t>
        <a:bodyPr/>
        <a:lstStyle/>
        <a:p>
          <a:endParaRPr lang="en-US"/>
        </a:p>
      </dgm:t>
    </dgm:pt>
    <dgm:pt modelId="{CF94D7D6-5ACD-4959-916E-7D1F426E2A41}" type="sibTrans" cxnId="{121E6A5D-ACD4-4A3F-AA34-8E84F38E4181}">
      <dgm:prSet/>
      <dgm:spPr/>
      <dgm:t>
        <a:bodyPr/>
        <a:lstStyle/>
        <a:p>
          <a:endParaRPr lang="en-US"/>
        </a:p>
      </dgm:t>
    </dgm:pt>
    <dgm:pt modelId="{F7EBA7C1-503B-43BF-BF9B-2B4C125F064D}">
      <dgm:prSet/>
      <dgm:spPr/>
      <dgm:t>
        <a:bodyPr/>
        <a:lstStyle/>
        <a:p>
          <a:r>
            <a:rPr lang="en-US" b="1"/>
            <a:t>Weight Adjustment:</a:t>
          </a:r>
          <a:r>
            <a:rPr lang="en-US"/>
            <a:t> It calculates the errors (residuals) for each data point. It then increases the weight of the data points with the largest errors</a:t>
          </a:r>
        </a:p>
      </dgm:t>
    </dgm:pt>
    <dgm:pt modelId="{E01D09D9-FB70-412F-9FCE-42FC4381F721}" type="parTrans" cxnId="{3FAD4668-F2BB-4704-9EC9-1E3332823D17}">
      <dgm:prSet/>
      <dgm:spPr/>
      <dgm:t>
        <a:bodyPr/>
        <a:lstStyle/>
        <a:p>
          <a:endParaRPr lang="en-US"/>
        </a:p>
      </dgm:t>
    </dgm:pt>
    <dgm:pt modelId="{AE975C0A-975F-47C5-8193-F36460653FEA}" type="sibTrans" cxnId="{3FAD4668-F2BB-4704-9EC9-1E3332823D17}">
      <dgm:prSet/>
      <dgm:spPr/>
      <dgm:t>
        <a:bodyPr/>
        <a:lstStyle/>
        <a:p>
          <a:endParaRPr lang="en-US"/>
        </a:p>
      </dgm:t>
    </dgm:pt>
    <dgm:pt modelId="{4EB51611-1AA3-4A1C-94DF-5398AE66A312}">
      <dgm:prSet/>
      <dgm:spPr/>
      <dgm:t>
        <a:bodyPr/>
        <a:lstStyle/>
        <a:p>
          <a:r>
            <a:rPr lang="en-US" b="1"/>
            <a:t>Focusing on Hard Cases:</a:t>
          </a:r>
          <a:r>
            <a:rPr lang="en-US"/>
            <a:t> The next model in the sequence is trained on the same data, but it pays extra attention to the heavily weighted, harder-to-predict data points</a:t>
          </a:r>
        </a:p>
      </dgm:t>
    </dgm:pt>
    <dgm:pt modelId="{FA967F74-AEDF-4233-90FD-19FD003C8D54}" type="parTrans" cxnId="{CAAF2FC2-EF77-40BA-8291-D0A14A0889D7}">
      <dgm:prSet/>
      <dgm:spPr/>
      <dgm:t>
        <a:bodyPr/>
        <a:lstStyle/>
        <a:p>
          <a:endParaRPr lang="en-US"/>
        </a:p>
      </dgm:t>
    </dgm:pt>
    <dgm:pt modelId="{43F93EF5-1CCC-4251-9B3F-F3A1735711DA}" type="sibTrans" cxnId="{CAAF2FC2-EF77-40BA-8291-D0A14A0889D7}">
      <dgm:prSet/>
      <dgm:spPr/>
      <dgm:t>
        <a:bodyPr/>
        <a:lstStyle/>
        <a:p>
          <a:endParaRPr lang="en-US"/>
        </a:p>
      </dgm:t>
    </dgm:pt>
    <dgm:pt modelId="{9490245A-9BC0-4A97-AE1B-4EA4F2A3F4CF}">
      <dgm:prSet/>
      <dgm:spPr/>
      <dgm:t>
        <a:bodyPr/>
        <a:lstStyle/>
        <a:p>
          <a:r>
            <a:rPr lang="en-US" b="1"/>
            <a:t>Aggregation:</a:t>
          </a:r>
          <a:r>
            <a:rPr lang="en-US"/>
            <a:t> It combines the outputs of all the weak models—usually shallow decision trees—using a weighted median or average to produce the final continuous prediction</a:t>
          </a:r>
        </a:p>
      </dgm:t>
    </dgm:pt>
    <dgm:pt modelId="{C191FA38-8F92-443C-A7C8-2F882CA30E46}" type="parTrans" cxnId="{2AF6C9D9-E209-4212-AFAB-2AF115F5A6F1}">
      <dgm:prSet/>
      <dgm:spPr/>
      <dgm:t>
        <a:bodyPr/>
        <a:lstStyle/>
        <a:p>
          <a:endParaRPr lang="en-US"/>
        </a:p>
      </dgm:t>
    </dgm:pt>
    <dgm:pt modelId="{9A818A68-8DA6-40F9-B90A-EC8029FB461D}" type="sibTrans" cxnId="{2AF6C9D9-E209-4212-AFAB-2AF115F5A6F1}">
      <dgm:prSet/>
      <dgm:spPr/>
      <dgm:t>
        <a:bodyPr/>
        <a:lstStyle/>
        <a:p>
          <a:endParaRPr lang="en-US"/>
        </a:p>
      </dgm:t>
    </dgm:pt>
    <dgm:pt modelId="{40767385-FE61-4DD9-9EA6-29BE0D54C7B4}" type="pres">
      <dgm:prSet presAssocID="{642933A2-1FD7-4969-BD70-61DCB5EEC2CF}" presName="vert0" presStyleCnt="0">
        <dgm:presLayoutVars>
          <dgm:dir/>
          <dgm:animOne val="branch"/>
          <dgm:animLvl val="lvl"/>
        </dgm:presLayoutVars>
      </dgm:prSet>
      <dgm:spPr/>
    </dgm:pt>
    <dgm:pt modelId="{EFB5A644-008A-47CF-914C-06B7EA5E72AE}" type="pres">
      <dgm:prSet presAssocID="{5D0CD137-BC83-4923-ACA1-367A9E2E2BA1}" presName="thickLine" presStyleLbl="alignNode1" presStyleIdx="0" presStyleCnt="4"/>
      <dgm:spPr/>
    </dgm:pt>
    <dgm:pt modelId="{315F00B6-DF6D-40DD-97E3-149447F7BC7F}" type="pres">
      <dgm:prSet presAssocID="{5D0CD137-BC83-4923-ACA1-367A9E2E2BA1}" presName="horz1" presStyleCnt="0"/>
      <dgm:spPr/>
    </dgm:pt>
    <dgm:pt modelId="{C51B62DF-E4D9-4103-8A20-C2EF09B8F511}" type="pres">
      <dgm:prSet presAssocID="{5D0CD137-BC83-4923-ACA1-367A9E2E2BA1}" presName="tx1" presStyleLbl="revTx" presStyleIdx="0" presStyleCnt="4"/>
      <dgm:spPr/>
    </dgm:pt>
    <dgm:pt modelId="{75EAF421-1171-4962-8E03-459032C32A7D}" type="pres">
      <dgm:prSet presAssocID="{5D0CD137-BC83-4923-ACA1-367A9E2E2BA1}" presName="vert1" presStyleCnt="0"/>
      <dgm:spPr/>
    </dgm:pt>
    <dgm:pt modelId="{DD1C42D1-8949-4B19-94F6-130104348F42}" type="pres">
      <dgm:prSet presAssocID="{F7EBA7C1-503B-43BF-BF9B-2B4C125F064D}" presName="thickLine" presStyleLbl="alignNode1" presStyleIdx="1" presStyleCnt="4"/>
      <dgm:spPr/>
    </dgm:pt>
    <dgm:pt modelId="{81B35799-FD7F-4C41-B851-0C933C208DFC}" type="pres">
      <dgm:prSet presAssocID="{F7EBA7C1-503B-43BF-BF9B-2B4C125F064D}" presName="horz1" presStyleCnt="0"/>
      <dgm:spPr/>
    </dgm:pt>
    <dgm:pt modelId="{9277F4EB-16B9-4734-A142-E6C05DAADB7B}" type="pres">
      <dgm:prSet presAssocID="{F7EBA7C1-503B-43BF-BF9B-2B4C125F064D}" presName="tx1" presStyleLbl="revTx" presStyleIdx="1" presStyleCnt="4"/>
      <dgm:spPr/>
    </dgm:pt>
    <dgm:pt modelId="{5E92851C-BF0E-4278-843C-1CF6BF0C0771}" type="pres">
      <dgm:prSet presAssocID="{F7EBA7C1-503B-43BF-BF9B-2B4C125F064D}" presName="vert1" presStyleCnt="0"/>
      <dgm:spPr/>
    </dgm:pt>
    <dgm:pt modelId="{350D30F0-8D9C-46F3-8D9D-64AF2CE3D2BD}" type="pres">
      <dgm:prSet presAssocID="{4EB51611-1AA3-4A1C-94DF-5398AE66A312}" presName="thickLine" presStyleLbl="alignNode1" presStyleIdx="2" presStyleCnt="4"/>
      <dgm:spPr/>
    </dgm:pt>
    <dgm:pt modelId="{F5023CE7-3B92-46AC-A61A-396F5DF8A2A3}" type="pres">
      <dgm:prSet presAssocID="{4EB51611-1AA3-4A1C-94DF-5398AE66A312}" presName="horz1" presStyleCnt="0"/>
      <dgm:spPr/>
    </dgm:pt>
    <dgm:pt modelId="{0BF74540-DBD8-4A06-837D-32EFC7874A15}" type="pres">
      <dgm:prSet presAssocID="{4EB51611-1AA3-4A1C-94DF-5398AE66A312}" presName="tx1" presStyleLbl="revTx" presStyleIdx="2" presStyleCnt="4"/>
      <dgm:spPr/>
    </dgm:pt>
    <dgm:pt modelId="{BC5883DF-45C4-4F23-9C0F-C819841728E7}" type="pres">
      <dgm:prSet presAssocID="{4EB51611-1AA3-4A1C-94DF-5398AE66A312}" presName="vert1" presStyleCnt="0"/>
      <dgm:spPr/>
    </dgm:pt>
    <dgm:pt modelId="{569E9337-CAE1-4E3D-BDAD-D1B51C648A5A}" type="pres">
      <dgm:prSet presAssocID="{9490245A-9BC0-4A97-AE1B-4EA4F2A3F4CF}" presName="thickLine" presStyleLbl="alignNode1" presStyleIdx="3" presStyleCnt="4"/>
      <dgm:spPr/>
    </dgm:pt>
    <dgm:pt modelId="{1D6F14B4-F88D-4BFE-9161-19E3AD51A895}" type="pres">
      <dgm:prSet presAssocID="{9490245A-9BC0-4A97-AE1B-4EA4F2A3F4CF}" presName="horz1" presStyleCnt="0"/>
      <dgm:spPr/>
    </dgm:pt>
    <dgm:pt modelId="{865C227C-8C1A-4A2F-B058-63DA9462ADA3}" type="pres">
      <dgm:prSet presAssocID="{9490245A-9BC0-4A97-AE1B-4EA4F2A3F4CF}" presName="tx1" presStyleLbl="revTx" presStyleIdx="3" presStyleCnt="4"/>
      <dgm:spPr/>
    </dgm:pt>
    <dgm:pt modelId="{BBB59CE0-3E76-49B2-8622-A6F6C528E068}" type="pres">
      <dgm:prSet presAssocID="{9490245A-9BC0-4A97-AE1B-4EA4F2A3F4CF}" presName="vert1" presStyleCnt="0"/>
      <dgm:spPr/>
    </dgm:pt>
  </dgm:ptLst>
  <dgm:cxnLst>
    <dgm:cxn modelId="{339C7619-DF5A-4A08-A62B-98B3CCD0ED73}" type="presOf" srcId="{642933A2-1FD7-4969-BD70-61DCB5EEC2CF}" destId="{40767385-FE61-4DD9-9EA6-29BE0D54C7B4}" srcOrd="0" destOrd="0" presId="urn:microsoft.com/office/officeart/2008/layout/LinedList"/>
    <dgm:cxn modelId="{09D11D2E-02F8-440C-B3E9-2F371148B935}" type="presOf" srcId="{9490245A-9BC0-4A97-AE1B-4EA4F2A3F4CF}" destId="{865C227C-8C1A-4A2F-B058-63DA9462ADA3}" srcOrd="0" destOrd="0" presId="urn:microsoft.com/office/officeart/2008/layout/LinedList"/>
    <dgm:cxn modelId="{121E6A5D-ACD4-4A3F-AA34-8E84F38E4181}" srcId="{642933A2-1FD7-4969-BD70-61DCB5EEC2CF}" destId="{5D0CD137-BC83-4923-ACA1-367A9E2E2BA1}" srcOrd="0" destOrd="0" parTransId="{DB9F8AA0-1E13-42A0-A987-85168EFB6B3D}" sibTransId="{CF94D7D6-5ACD-4959-916E-7D1F426E2A41}"/>
    <dgm:cxn modelId="{3FAD4668-F2BB-4704-9EC9-1E3332823D17}" srcId="{642933A2-1FD7-4969-BD70-61DCB5EEC2CF}" destId="{F7EBA7C1-503B-43BF-BF9B-2B4C125F064D}" srcOrd="1" destOrd="0" parTransId="{E01D09D9-FB70-412F-9FCE-42FC4381F721}" sibTransId="{AE975C0A-975F-47C5-8193-F36460653FEA}"/>
    <dgm:cxn modelId="{BC70AD78-CD59-4009-B5EF-42B89137EB80}" type="presOf" srcId="{4EB51611-1AA3-4A1C-94DF-5398AE66A312}" destId="{0BF74540-DBD8-4A06-837D-32EFC7874A15}" srcOrd="0" destOrd="0" presId="urn:microsoft.com/office/officeart/2008/layout/LinedList"/>
    <dgm:cxn modelId="{99029B88-1ACA-4B33-8CA9-9659C4F138CF}" type="presOf" srcId="{5D0CD137-BC83-4923-ACA1-367A9E2E2BA1}" destId="{C51B62DF-E4D9-4103-8A20-C2EF09B8F511}" srcOrd="0" destOrd="0" presId="urn:microsoft.com/office/officeart/2008/layout/LinedList"/>
    <dgm:cxn modelId="{D620A399-534D-45D9-AD89-92D539389FAF}" type="presOf" srcId="{F7EBA7C1-503B-43BF-BF9B-2B4C125F064D}" destId="{9277F4EB-16B9-4734-A142-E6C05DAADB7B}" srcOrd="0" destOrd="0" presId="urn:microsoft.com/office/officeart/2008/layout/LinedList"/>
    <dgm:cxn modelId="{CAAF2FC2-EF77-40BA-8291-D0A14A0889D7}" srcId="{642933A2-1FD7-4969-BD70-61DCB5EEC2CF}" destId="{4EB51611-1AA3-4A1C-94DF-5398AE66A312}" srcOrd="2" destOrd="0" parTransId="{FA967F74-AEDF-4233-90FD-19FD003C8D54}" sibTransId="{43F93EF5-1CCC-4251-9B3F-F3A1735711DA}"/>
    <dgm:cxn modelId="{2AF6C9D9-E209-4212-AFAB-2AF115F5A6F1}" srcId="{642933A2-1FD7-4969-BD70-61DCB5EEC2CF}" destId="{9490245A-9BC0-4A97-AE1B-4EA4F2A3F4CF}" srcOrd="3" destOrd="0" parTransId="{C191FA38-8F92-443C-A7C8-2F882CA30E46}" sibTransId="{9A818A68-8DA6-40F9-B90A-EC8029FB461D}"/>
    <dgm:cxn modelId="{7D984275-FCB1-49C5-805C-4F51BF21E0C2}" type="presParOf" srcId="{40767385-FE61-4DD9-9EA6-29BE0D54C7B4}" destId="{EFB5A644-008A-47CF-914C-06B7EA5E72AE}" srcOrd="0" destOrd="0" presId="urn:microsoft.com/office/officeart/2008/layout/LinedList"/>
    <dgm:cxn modelId="{3C98042B-7724-4283-8AA9-79B3A1202E35}" type="presParOf" srcId="{40767385-FE61-4DD9-9EA6-29BE0D54C7B4}" destId="{315F00B6-DF6D-40DD-97E3-149447F7BC7F}" srcOrd="1" destOrd="0" presId="urn:microsoft.com/office/officeart/2008/layout/LinedList"/>
    <dgm:cxn modelId="{6BD75AE0-75F6-4886-A73F-5918E116B86A}" type="presParOf" srcId="{315F00B6-DF6D-40DD-97E3-149447F7BC7F}" destId="{C51B62DF-E4D9-4103-8A20-C2EF09B8F511}" srcOrd="0" destOrd="0" presId="urn:microsoft.com/office/officeart/2008/layout/LinedList"/>
    <dgm:cxn modelId="{7FD48921-252F-4C98-A522-DC9947CEABC0}" type="presParOf" srcId="{315F00B6-DF6D-40DD-97E3-149447F7BC7F}" destId="{75EAF421-1171-4962-8E03-459032C32A7D}" srcOrd="1" destOrd="0" presId="urn:microsoft.com/office/officeart/2008/layout/LinedList"/>
    <dgm:cxn modelId="{AFCB9597-5B5E-46C9-86A6-BFABCC896A8D}" type="presParOf" srcId="{40767385-FE61-4DD9-9EA6-29BE0D54C7B4}" destId="{DD1C42D1-8949-4B19-94F6-130104348F42}" srcOrd="2" destOrd="0" presId="urn:microsoft.com/office/officeart/2008/layout/LinedList"/>
    <dgm:cxn modelId="{B0EED072-E36E-4152-81D2-53B1AACDCDB3}" type="presParOf" srcId="{40767385-FE61-4DD9-9EA6-29BE0D54C7B4}" destId="{81B35799-FD7F-4C41-B851-0C933C208DFC}" srcOrd="3" destOrd="0" presId="urn:microsoft.com/office/officeart/2008/layout/LinedList"/>
    <dgm:cxn modelId="{B33F9990-91E9-4668-B5DB-BB476B0B0882}" type="presParOf" srcId="{81B35799-FD7F-4C41-B851-0C933C208DFC}" destId="{9277F4EB-16B9-4734-A142-E6C05DAADB7B}" srcOrd="0" destOrd="0" presId="urn:microsoft.com/office/officeart/2008/layout/LinedList"/>
    <dgm:cxn modelId="{68303A15-473A-429D-93A5-FEE00BA86857}" type="presParOf" srcId="{81B35799-FD7F-4C41-B851-0C933C208DFC}" destId="{5E92851C-BF0E-4278-843C-1CF6BF0C0771}" srcOrd="1" destOrd="0" presId="urn:microsoft.com/office/officeart/2008/layout/LinedList"/>
    <dgm:cxn modelId="{BA6B32CE-4724-4DDB-BFDC-2E29043337D4}" type="presParOf" srcId="{40767385-FE61-4DD9-9EA6-29BE0D54C7B4}" destId="{350D30F0-8D9C-46F3-8D9D-64AF2CE3D2BD}" srcOrd="4" destOrd="0" presId="urn:microsoft.com/office/officeart/2008/layout/LinedList"/>
    <dgm:cxn modelId="{0477E7D5-156E-4721-9EF4-DBB0E259F4F3}" type="presParOf" srcId="{40767385-FE61-4DD9-9EA6-29BE0D54C7B4}" destId="{F5023CE7-3B92-46AC-A61A-396F5DF8A2A3}" srcOrd="5" destOrd="0" presId="urn:microsoft.com/office/officeart/2008/layout/LinedList"/>
    <dgm:cxn modelId="{91CCC6CE-BF41-401C-96C1-F8B33C106AEB}" type="presParOf" srcId="{F5023CE7-3B92-46AC-A61A-396F5DF8A2A3}" destId="{0BF74540-DBD8-4A06-837D-32EFC7874A15}" srcOrd="0" destOrd="0" presId="urn:microsoft.com/office/officeart/2008/layout/LinedList"/>
    <dgm:cxn modelId="{8882F31F-6AD1-4DFE-A670-250BBAA89B6E}" type="presParOf" srcId="{F5023CE7-3B92-46AC-A61A-396F5DF8A2A3}" destId="{BC5883DF-45C4-4F23-9C0F-C819841728E7}" srcOrd="1" destOrd="0" presId="urn:microsoft.com/office/officeart/2008/layout/LinedList"/>
    <dgm:cxn modelId="{C19F77FF-F9AF-49F5-AF3F-B1B3BFB3796A}" type="presParOf" srcId="{40767385-FE61-4DD9-9EA6-29BE0D54C7B4}" destId="{569E9337-CAE1-4E3D-BDAD-D1B51C648A5A}" srcOrd="6" destOrd="0" presId="urn:microsoft.com/office/officeart/2008/layout/LinedList"/>
    <dgm:cxn modelId="{7CD97362-F03A-4E61-9BF3-EC72E00FD15D}" type="presParOf" srcId="{40767385-FE61-4DD9-9EA6-29BE0D54C7B4}" destId="{1D6F14B4-F88D-4BFE-9161-19E3AD51A895}" srcOrd="7" destOrd="0" presId="urn:microsoft.com/office/officeart/2008/layout/LinedList"/>
    <dgm:cxn modelId="{044B273F-0B64-4A97-B318-7930EB9326F0}" type="presParOf" srcId="{1D6F14B4-F88D-4BFE-9161-19E3AD51A895}" destId="{865C227C-8C1A-4A2F-B058-63DA9462ADA3}" srcOrd="0" destOrd="0" presId="urn:microsoft.com/office/officeart/2008/layout/LinedList"/>
    <dgm:cxn modelId="{B96189A8-5A79-4B43-BC55-83F80E503F4A}" type="presParOf" srcId="{1D6F14B4-F88D-4BFE-9161-19E3AD51A895}" destId="{BBB59CE0-3E76-49B2-8622-A6F6C528E068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B07DEC-8139-4B61-A25F-3580D74421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4EBE44-841A-4398-85EB-761EA64B7680}">
      <dgm:prSet/>
      <dgm:spPr/>
      <dgm:t>
        <a:bodyPr/>
        <a:lstStyle/>
        <a:p>
          <a:r>
            <a:rPr lang="en-US" b="1" i="0" baseline="0"/>
            <a:t>Base Estimator:</a:t>
          </a:r>
          <a:r>
            <a:rPr lang="en-US" b="0" i="0" baseline="0"/>
            <a:t> It typically uses a small DecisionTreeRegressor (often with a maximum depth of 3) as its default base model. </a:t>
          </a:r>
          <a:endParaRPr lang="en-US"/>
        </a:p>
      </dgm:t>
    </dgm:pt>
    <dgm:pt modelId="{59DA7D8E-F165-44B5-BE7B-C2EF212F1685}" type="parTrans" cxnId="{1CBB262B-1494-4187-AC44-22DCFC801E41}">
      <dgm:prSet/>
      <dgm:spPr/>
      <dgm:t>
        <a:bodyPr/>
        <a:lstStyle/>
        <a:p>
          <a:endParaRPr lang="en-US"/>
        </a:p>
      </dgm:t>
    </dgm:pt>
    <dgm:pt modelId="{64E08840-DFD6-45E2-94C0-CA7E55C656A5}" type="sibTrans" cxnId="{1CBB262B-1494-4187-AC44-22DCFC801E41}">
      <dgm:prSet/>
      <dgm:spPr/>
      <dgm:t>
        <a:bodyPr/>
        <a:lstStyle/>
        <a:p>
          <a:endParaRPr lang="en-US"/>
        </a:p>
      </dgm:t>
    </dgm:pt>
    <dgm:pt modelId="{5715A566-2E1E-43EB-8016-224412A48273}">
      <dgm:prSet/>
      <dgm:spPr/>
      <dgm:t>
        <a:bodyPr/>
        <a:lstStyle/>
        <a:p>
          <a:r>
            <a:rPr lang="en-US" b="1"/>
            <a:t>Adaptability:</a:t>
          </a:r>
          <a:r>
            <a:rPr lang="en-US"/>
            <a:t> The algorithm adapts by changing data point weights dynamically based on previous prediction errors.</a:t>
          </a:r>
        </a:p>
      </dgm:t>
    </dgm:pt>
    <dgm:pt modelId="{70EBBEED-42F0-4DD6-83FF-8D3BEC6D965E}" type="parTrans" cxnId="{D9B2B452-E511-4F51-AEE5-8BC18E1B2F5E}">
      <dgm:prSet/>
      <dgm:spPr/>
      <dgm:t>
        <a:bodyPr/>
        <a:lstStyle/>
        <a:p>
          <a:endParaRPr lang="en-US"/>
        </a:p>
      </dgm:t>
    </dgm:pt>
    <dgm:pt modelId="{2DE04733-6E9D-42B9-BC51-0BA0ABB69EC2}" type="sibTrans" cxnId="{D9B2B452-E511-4F51-AEE5-8BC18E1B2F5E}">
      <dgm:prSet/>
      <dgm:spPr/>
      <dgm:t>
        <a:bodyPr/>
        <a:lstStyle/>
        <a:p>
          <a:endParaRPr lang="en-US"/>
        </a:p>
      </dgm:t>
    </dgm:pt>
    <dgm:pt modelId="{6C8A301E-1DD4-4F6B-B69F-F4ADECF4DD92}">
      <dgm:prSet/>
      <dgm:spPr/>
      <dgm:t>
        <a:bodyPr/>
        <a:lstStyle/>
        <a:p>
          <a:r>
            <a:rPr lang="en-US" b="1"/>
            <a:t>Sensitivity:</a:t>
          </a:r>
          <a:r>
            <a:rPr lang="en-US"/>
            <a:t> It can be sensitive to noisy data and extreme outliers, because it forces subsequent models to relentlessly chase hard-to-fit points</a:t>
          </a:r>
        </a:p>
      </dgm:t>
    </dgm:pt>
    <dgm:pt modelId="{1F873E1F-C93B-44A2-A299-5A429C235D61}" type="parTrans" cxnId="{B28E4B2B-A955-4875-BF2A-87BDE0E3468F}">
      <dgm:prSet/>
      <dgm:spPr/>
      <dgm:t>
        <a:bodyPr/>
        <a:lstStyle/>
        <a:p>
          <a:endParaRPr lang="en-US"/>
        </a:p>
      </dgm:t>
    </dgm:pt>
    <dgm:pt modelId="{CBED9739-C604-4589-9469-137AD2719F48}" type="sibTrans" cxnId="{B28E4B2B-A955-4875-BF2A-87BDE0E3468F}">
      <dgm:prSet/>
      <dgm:spPr/>
      <dgm:t>
        <a:bodyPr/>
        <a:lstStyle/>
        <a:p>
          <a:endParaRPr lang="en-US"/>
        </a:p>
      </dgm:t>
    </dgm:pt>
    <dgm:pt modelId="{DD4B65B2-5B2C-4D52-B15B-513026D8B78B}" type="pres">
      <dgm:prSet presAssocID="{10B07DEC-8139-4B61-A25F-3580D74421BF}" presName="linear" presStyleCnt="0">
        <dgm:presLayoutVars>
          <dgm:animLvl val="lvl"/>
          <dgm:resizeHandles val="exact"/>
        </dgm:presLayoutVars>
      </dgm:prSet>
      <dgm:spPr/>
    </dgm:pt>
    <dgm:pt modelId="{487CDF8F-1B33-4D6B-B54F-828D8F68DECB}" type="pres">
      <dgm:prSet presAssocID="{344EBE44-841A-4398-85EB-761EA64B768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5CC3B28-B38E-45B7-AA32-707E8D38187B}" type="pres">
      <dgm:prSet presAssocID="{64E08840-DFD6-45E2-94C0-CA7E55C656A5}" presName="spacer" presStyleCnt="0"/>
      <dgm:spPr/>
    </dgm:pt>
    <dgm:pt modelId="{63857985-ED82-44A7-818B-D303AE5E39A6}" type="pres">
      <dgm:prSet presAssocID="{5715A566-2E1E-43EB-8016-224412A4827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0610749-F02A-4F9B-BC6E-36B88D1482B0}" type="pres">
      <dgm:prSet presAssocID="{2DE04733-6E9D-42B9-BC51-0BA0ABB69EC2}" presName="spacer" presStyleCnt="0"/>
      <dgm:spPr/>
    </dgm:pt>
    <dgm:pt modelId="{862ADCD6-C223-41D0-A645-EEF3B4440A31}" type="pres">
      <dgm:prSet presAssocID="{6C8A301E-1DD4-4F6B-B69F-F4ADECF4DD9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1CBB262B-1494-4187-AC44-22DCFC801E41}" srcId="{10B07DEC-8139-4B61-A25F-3580D74421BF}" destId="{344EBE44-841A-4398-85EB-761EA64B7680}" srcOrd="0" destOrd="0" parTransId="{59DA7D8E-F165-44B5-BE7B-C2EF212F1685}" sibTransId="{64E08840-DFD6-45E2-94C0-CA7E55C656A5}"/>
    <dgm:cxn modelId="{B28E4B2B-A955-4875-BF2A-87BDE0E3468F}" srcId="{10B07DEC-8139-4B61-A25F-3580D74421BF}" destId="{6C8A301E-1DD4-4F6B-B69F-F4ADECF4DD92}" srcOrd="2" destOrd="0" parTransId="{1F873E1F-C93B-44A2-A299-5A429C235D61}" sibTransId="{CBED9739-C604-4589-9469-137AD2719F48}"/>
    <dgm:cxn modelId="{295DD436-5C3E-49CD-BD99-93AD241D5582}" type="presOf" srcId="{6C8A301E-1DD4-4F6B-B69F-F4ADECF4DD92}" destId="{862ADCD6-C223-41D0-A645-EEF3B4440A31}" srcOrd="0" destOrd="0" presId="urn:microsoft.com/office/officeart/2005/8/layout/vList2"/>
    <dgm:cxn modelId="{D9B2B452-E511-4F51-AEE5-8BC18E1B2F5E}" srcId="{10B07DEC-8139-4B61-A25F-3580D74421BF}" destId="{5715A566-2E1E-43EB-8016-224412A48273}" srcOrd="1" destOrd="0" parTransId="{70EBBEED-42F0-4DD6-83FF-8D3BEC6D965E}" sibTransId="{2DE04733-6E9D-42B9-BC51-0BA0ABB69EC2}"/>
    <dgm:cxn modelId="{5B7E42C2-0A4B-4CBD-8A6F-9BE1DCB643FA}" type="presOf" srcId="{5715A566-2E1E-43EB-8016-224412A48273}" destId="{63857985-ED82-44A7-818B-D303AE5E39A6}" srcOrd="0" destOrd="0" presId="urn:microsoft.com/office/officeart/2005/8/layout/vList2"/>
    <dgm:cxn modelId="{385FC3EC-1207-4471-8D70-BE8B9F072B90}" type="presOf" srcId="{344EBE44-841A-4398-85EB-761EA64B7680}" destId="{487CDF8F-1B33-4D6B-B54F-828D8F68DECB}" srcOrd="0" destOrd="0" presId="urn:microsoft.com/office/officeart/2005/8/layout/vList2"/>
    <dgm:cxn modelId="{19342EF9-49F7-45DC-B65F-0EE15AAD4BD7}" type="presOf" srcId="{10B07DEC-8139-4B61-A25F-3580D74421BF}" destId="{DD4B65B2-5B2C-4D52-B15B-513026D8B78B}" srcOrd="0" destOrd="0" presId="urn:microsoft.com/office/officeart/2005/8/layout/vList2"/>
    <dgm:cxn modelId="{495217BF-B55C-4622-9629-A79A0E85AF9D}" type="presParOf" srcId="{DD4B65B2-5B2C-4D52-B15B-513026D8B78B}" destId="{487CDF8F-1B33-4D6B-B54F-828D8F68DECB}" srcOrd="0" destOrd="0" presId="urn:microsoft.com/office/officeart/2005/8/layout/vList2"/>
    <dgm:cxn modelId="{260BCADD-AC29-4F8C-8CB3-7E07FA71AB9E}" type="presParOf" srcId="{DD4B65B2-5B2C-4D52-B15B-513026D8B78B}" destId="{55CC3B28-B38E-45B7-AA32-707E8D38187B}" srcOrd="1" destOrd="0" presId="urn:microsoft.com/office/officeart/2005/8/layout/vList2"/>
    <dgm:cxn modelId="{37D5E9DE-A990-43F8-88C6-D7CECBB510C6}" type="presParOf" srcId="{DD4B65B2-5B2C-4D52-B15B-513026D8B78B}" destId="{63857985-ED82-44A7-818B-D303AE5E39A6}" srcOrd="2" destOrd="0" presId="urn:microsoft.com/office/officeart/2005/8/layout/vList2"/>
    <dgm:cxn modelId="{6F0356C8-8EAB-4268-8BEB-EFA3B4D698FC}" type="presParOf" srcId="{DD4B65B2-5B2C-4D52-B15B-513026D8B78B}" destId="{E0610749-F02A-4F9B-BC6E-36B88D1482B0}" srcOrd="3" destOrd="0" presId="urn:microsoft.com/office/officeart/2005/8/layout/vList2"/>
    <dgm:cxn modelId="{D1AF5E70-8851-4DE7-AF2A-94117A82DAAA}" type="presParOf" srcId="{DD4B65B2-5B2C-4D52-B15B-513026D8B78B}" destId="{862ADCD6-C223-41D0-A645-EEF3B4440A3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B5A644-008A-47CF-914C-06B7EA5E72AE}">
      <dsp:nvSpPr>
        <dsp:cNvPr id="0" name=""/>
        <dsp:cNvSpPr/>
      </dsp:nvSpPr>
      <dsp:spPr>
        <a:xfrm>
          <a:off x="0" y="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1B62DF-E4D9-4103-8A20-C2EF09B8F511}">
      <dsp:nvSpPr>
        <dsp:cNvPr id="0" name=""/>
        <dsp:cNvSpPr/>
      </dsp:nvSpPr>
      <dsp:spPr>
        <a:xfrm>
          <a:off x="0" y="0"/>
          <a:ext cx="7315200" cy="1451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Sequential Training:</a:t>
          </a:r>
          <a:r>
            <a:rPr lang="en-US" sz="2200" kern="1200" dirty="0"/>
            <a:t> It builds models one after another. The first model makes a prediction on the dataset. </a:t>
          </a:r>
        </a:p>
      </dsp:txBody>
      <dsp:txXfrm>
        <a:off x="0" y="0"/>
        <a:ext cx="7315200" cy="1451610"/>
      </dsp:txXfrm>
    </dsp:sp>
    <dsp:sp modelId="{DD1C42D1-8949-4B19-94F6-130104348F42}">
      <dsp:nvSpPr>
        <dsp:cNvPr id="0" name=""/>
        <dsp:cNvSpPr/>
      </dsp:nvSpPr>
      <dsp:spPr>
        <a:xfrm>
          <a:off x="0" y="145160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77F4EB-16B9-4734-A142-E6C05DAADB7B}">
      <dsp:nvSpPr>
        <dsp:cNvPr id="0" name=""/>
        <dsp:cNvSpPr/>
      </dsp:nvSpPr>
      <dsp:spPr>
        <a:xfrm>
          <a:off x="0" y="1451610"/>
          <a:ext cx="7315200" cy="1451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Weight Adjustment:</a:t>
          </a:r>
          <a:r>
            <a:rPr lang="en-US" sz="2200" kern="1200"/>
            <a:t> It calculates the errors (residuals) for each data point. It then increases the weight of the data points with the largest errors</a:t>
          </a:r>
        </a:p>
      </dsp:txBody>
      <dsp:txXfrm>
        <a:off x="0" y="1451610"/>
        <a:ext cx="7315200" cy="1451610"/>
      </dsp:txXfrm>
    </dsp:sp>
    <dsp:sp modelId="{350D30F0-8D9C-46F3-8D9D-64AF2CE3D2BD}">
      <dsp:nvSpPr>
        <dsp:cNvPr id="0" name=""/>
        <dsp:cNvSpPr/>
      </dsp:nvSpPr>
      <dsp:spPr>
        <a:xfrm>
          <a:off x="0" y="2903219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F74540-DBD8-4A06-837D-32EFC7874A15}">
      <dsp:nvSpPr>
        <dsp:cNvPr id="0" name=""/>
        <dsp:cNvSpPr/>
      </dsp:nvSpPr>
      <dsp:spPr>
        <a:xfrm>
          <a:off x="0" y="2903220"/>
          <a:ext cx="7315200" cy="1451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Focusing on Hard Cases:</a:t>
          </a:r>
          <a:r>
            <a:rPr lang="en-US" sz="2200" kern="1200"/>
            <a:t> The next model in the sequence is trained on the same data, but it pays extra attention to the heavily weighted, harder-to-predict data points</a:t>
          </a:r>
        </a:p>
      </dsp:txBody>
      <dsp:txXfrm>
        <a:off x="0" y="2903220"/>
        <a:ext cx="7315200" cy="1451610"/>
      </dsp:txXfrm>
    </dsp:sp>
    <dsp:sp modelId="{569E9337-CAE1-4E3D-BDAD-D1B51C648A5A}">
      <dsp:nvSpPr>
        <dsp:cNvPr id="0" name=""/>
        <dsp:cNvSpPr/>
      </dsp:nvSpPr>
      <dsp:spPr>
        <a:xfrm>
          <a:off x="0" y="4354830"/>
          <a:ext cx="73152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5C227C-8C1A-4A2F-B058-63DA9462ADA3}">
      <dsp:nvSpPr>
        <dsp:cNvPr id="0" name=""/>
        <dsp:cNvSpPr/>
      </dsp:nvSpPr>
      <dsp:spPr>
        <a:xfrm>
          <a:off x="0" y="4354830"/>
          <a:ext cx="7315200" cy="14516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Aggregation:</a:t>
          </a:r>
          <a:r>
            <a:rPr lang="en-US" sz="2200" kern="1200"/>
            <a:t> It combines the outputs of all the weak models—usually shallow decision trees—using a weighted median or average to produce the final continuous prediction</a:t>
          </a:r>
        </a:p>
      </dsp:txBody>
      <dsp:txXfrm>
        <a:off x="0" y="4354830"/>
        <a:ext cx="7315200" cy="14516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CDF8F-1B33-4D6B-B54F-828D8F68DECB}">
      <dsp:nvSpPr>
        <dsp:cNvPr id="0" name=""/>
        <dsp:cNvSpPr/>
      </dsp:nvSpPr>
      <dsp:spPr>
        <a:xfrm>
          <a:off x="0" y="14850"/>
          <a:ext cx="6159500" cy="1740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Base Estimator:</a:t>
          </a:r>
          <a:r>
            <a:rPr lang="en-US" sz="2400" b="0" i="0" kern="1200" baseline="0"/>
            <a:t> It typically uses a small DecisionTreeRegressor (often with a maximum depth of 3) as its default base model. </a:t>
          </a:r>
          <a:endParaRPr lang="en-US" sz="2400" kern="1200"/>
        </a:p>
      </dsp:txBody>
      <dsp:txXfrm>
        <a:off x="84987" y="99837"/>
        <a:ext cx="5989526" cy="1570986"/>
      </dsp:txXfrm>
    </dsp:sp>
    <dsp:sp modelId="{63857985-ED82-44A7-818B-D303AE5E39A6}">
      <dsp:nvSpPr>
        <dsp:cNvPr id="0" name=""/>
        <dsp:cNvSpPr/>
      </dsp:nvSpPr>
      <dsp:spPr>
        <a:xfrm>
          <a:off x="0" y="1824930"/>
          <a:ext cx="6159500" cy="1740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Adaptability:</a:t>
          </a:r>
          <a:r>
            <a:rPr lang="en-US" sz="2400" kern="1200"/>
            <a:t> The algorithm adapts by changing data point weights dynamically based on previous prediction errors.</a:t>
          </a:r>
        </a:p>
      </dsp:txBody>
      <dsp:txXfrm>
        <a:off x="84987" y="1909917"/>
        <a:ext cx="5989526" cy="1570986"/>
      </dsp:txXfrm>
    </dsp:sp>
    <dsp:sp modelId="{862ADCD6-C223-41D0-A645-EEF3B4440A31}">
      <dsp:nvSpPr>
        <dsp:cNvPr id="0" name=""/>
        <dsp:cNvSpPr/>
      </dsp:nvSpPr>
      <dsp:spPr>
        <a:xfrm>
          <a:off x="0" y="3635011"/>
          <a:ext cx="6159500" cy="17409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Sensitivity:</a:t>
          </a:r>
          <a:r>
            <a:rPr lang="en-US" sz="2400" kern="1200"/>
            <a:t> It can be sensitive to noisy data and extreme outliers, because it forces subsequent models to relentlessly chase hard-to-fit points</a:t>
          </a:r>
        </a:p>
      </dsp:txBody>
      <dsp:txXfrm>
        <a:off x="84987" y="3719998"/>
        <a:ext cx="5989526" cy="1570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06-Oct-26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06-Oct-26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635797"/>
          </a:xfrm>
        </p:spPr>
        <p:txBody>
          <a:bodyPr anchor="t">
            <a:normAutofit/>
          </a:bodyPr>
          <a:lstStyle>
            <a:lvl1pPr algn="l"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73553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296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368" y="4617138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54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0495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5218032"/>
            <a:ext cx="11460480" cy="786384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5972629"/>
            <a:ext cx="11460480" cy="480373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685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7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68895" y="645300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5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>
            <a:lvl1pPr algn="l"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7160" y="6453002"/>
            <a:ext cx="1951777" cy="365125"/>
          </a:xfrm>
        </p:spPr>
        <p:txBody>
          <a:bodyPr/>
          <a:lstStyle/>
          <a:p>
            <a:fld id="{1FE1A989-42EF-40B2-87AB-6941C231CD4A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44578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06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8095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4320" y="1801368"/>
            <a:ext cx="7772400" cy="4572000"/>
          </a:xfrm>
        </p:spPr>
        <p:txBody>
          <a:bodyPr anchor="b">
            <a:normAutofit/>
          </a:bodyPr>
          <a:lstStyle>
            <a:lvl1pPr algn="l">
              <a:defRPr sz="7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5176" y="484632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2A7A0-B9EE-41A8-8016-28E5803F20B2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279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2333860"/>
            <a:ext cx="8467558" cy="368990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400"/>
            </a:lvl1pPr>
            <a:lvl2pPr marL="685800" indent="-457200">
              <a:buFont typeface="+mj-lt"/>
              <a:buAutoNum type="arabicPeriod"/>
              <a:defRPr sz="2000"/>
            </a:lvl2pPr>
            <a:lvl3pPr marL="800100" indent="-342900">
              <a:buFont typeface="+mj-lt"/>
              <a:buAutoNum type="arabicPeriod"/>
              <a:defRPr sz="1800"/>
            </a:lvl3pPr>
            <a:lvl4pPr marL="1028700" indent="-342900">
              <a:buFont typeface="+mj-lt"/>
              <a:buAutoNum type="arabicPeriod"/>
              <a:defRPr sz="16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208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161288"/>
            <a:ext cx="4663440" cy="1554480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8000" y="2825496"/>
            <a:ext cx="4663440" cy="333756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571500" indent="-342900">
              <a:buFont typeface="+mj-lt"/>
              <a:buAutoNum type="arabicPeriod"/>
              <a:defRPr sz="1800"/>
            </a:lvl2pPr>
            <a:lvl3pPr marL="800100" indent="-342900">
              <a:buFont typeface="+mj-lt"/>
              <a:buAutoNum type="arabicPeriod"/>
              <a:defRPr sz="16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7999" y="6453002"/>
            <a:ext cx="1996689" cy="365125"/>
          </a:xfrm>
        </p:spPr>
        <p:txBody>
          <a:bodyPr/>
          <a:lstStyle/>
          <a:p>
            <a:fld id="{8A60B404-9532-4DA8-8A40-EC339A5BE635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2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776036"/>
            <a:ext cx="11924209" cy="56769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51269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8651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12030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418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75640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537853"/>
            <a:ext cx="4145582" cy="463882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58674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47116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549274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22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8937" y="548640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38937" y="1828800"/>
            <a:ext cx="6071616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538937" y="6453002"/>
            <a:ext cx="3337584" cy="365125"/>
          </a:xfrm>
        </p:spPr>
        <p:txBody>
          <a:bodyPr/>
          <a:lstStyle/>
          <a:p>
            <a:fld id="{8FACD271-2BB0-4C13-9E3A-50B90F57CA5B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7492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82880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06232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047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5736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45736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745736" y="6453002"/>
            <a:ext cx="3494314" cy="365125"/>
          </a:xfrm>
        </p:spPr>
        <p:txBody>
          <a:bodyPr/>
          <a:lstStyle/>
          <a:p>
            <a:fld id="{1A5F77D0-C28E-4573-88F0-0A30FF98888E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2171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320040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380744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6453002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453002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19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3808" y="58433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3745" y="221297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3745" y="6453002"/>
            <a:ext cx="162277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344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1D22668-A3AE-429F-A351-A1583BA90793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1800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4553" y="320040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04888" y="1380744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104491" y="6453002"/>
            <a:ext cx="177202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2159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20040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1380744"/>
            <a:ext cx="4572000" cy="4983480"/>
          </a:xfrm>
        </p:spPr>
        <p:txBody>
          <a:bodyPr/>
          <a:lstStyle>
            <a:lvl1pPr marL="0" indent="0">
              <a:buNone/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2031073" cy="365125"/>
          </a:xfrm>
        </p:spPr>
        <p:txBody>
          <a:bodyPr/>
          <a:lstStyle/>
          <a:p>
            <a:fld id="{46C70014-48FC-4647-9615-BBD39F98887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68233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1820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2790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212663" y="6453002"/>
            <a:ext cx="922372" cy="365125"/>
          </a:xfrm>
        </p:spPr>
        <p:txBody>
          <a:bodyPr/>
          <a:lstStyle/>
          <a:p>
            <a:fld id="{C089F4EF-3CDF-46D7-ADF4-3A52C84FD8BE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9135035" y="6453002"/>
            <a:ext cx="254689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7826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83413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212975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53002"/>
            <a:ext cx="1067625" cy="365125"/>
          </a:xfrm>
        </p:spPr>
        <p:txBody>
          <a:bodyPr/>
          <a:lstStyle/>
          <a:p>
            <a:fld id="{E635C43F-DBB1-4D83-B442-E1529AA900C2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04785" y="6453002"/>
            <a:ext cx="280540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0426" y="6453002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5332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10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43102" y="6453002"/>
            <a:ext cx="1003659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346761" y="6453002"/>
            <a:ext cx="233516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7347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88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192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079730"/>
            <a:ext cx="12192000" cy="3778270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59778"/>
            <a:ext cx="3494314" cy="365125"/>
          </a:xfrm>
        </p:spPr>
        <p:txBody>
          <a:bodyPr/>
          <a:lstStyle/>
          <a:p>
            <a:fld id="{9128053F-E531-4885-B604-CF1A6DEEE405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200"/>
            </a:lvl4pPr>
            <a:lvl5pPr marL="1085850" indent="-171450"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59778"/>
            <a:ext cx="2805405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5977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6810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603504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5" y="1828800"/>
            <a:ext cx="6172200" cy="4425696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27395" y="1828800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6790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39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2648" y="2290890"/>
            <a:ext cx="4672584" cy="4041648"/>
          </a:xfrm>
          <a:blipFill dpi="0" rotWithShape="1">
            <a:blip r:embed="rId2" cstate="print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601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550217"/>
            <a:ext cx="3657603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1" y="2295144"/>
            <a:ext cx="3490176" cy="4041648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6500" y="549275"/>
            <a:ext cx="6561138" cy="57594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380775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9496" y="566928"/>
            <a:ext cx="10826496" cy="4334256"/>
          </a:xfrm>
        </p:spPr>
        <p:txBody>
          <a:bodyPr anchor="b">
            <a:normAutofit/>
          </a:bodyPr>
          <a:lstStyle>
            <a:lvl1pPr algn="l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4944" y="4718304"/>
            <a:ext cx="5897880" cy="1353312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468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760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3814EA-F598-EBFD-83D1-6782D7CBB598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2960" y="603504"/>
            <a:ext cx="10543032" cy="4206240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809744"/>
            <a:ext cx="7525512" cy="154533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83EFCC7-B7E8-4ABE-BBCB-C75FD27800C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096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831385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4972" y="5428752"/>
            <a:ext cx="9043508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565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E66BBE-3119-84C9-214F-FCCB3DF5A6F1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655064" y="5349240"/>
            <a:ext cx="9043416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47CA6-BC1D-429A-A289-4E939E49554A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93244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234440"/>
            <a:ext cx="8961120" cy="3169920"/>
          </a:xfrm>
        </p:spPr>
        <p:txBody>
          <a:bodyPr anchor="ctr">
            <a:normAutofit/>
          </a:bodyPr>
          <a:lstStyle>
            <a:lvl1pPr marL="137160" indent="-137160" algn="l">
              <a:lnSpc>
                <a:spcPct val="100000"/>
              </a:lnSpc>
              <a:defRPr sz="4400" b="0"/>
            </a:lvl1pPr>
          </a:lstStyle>
          <a:p>
            <a:r>
              <a:rPr lang="en-US" dirty="0"/>
              <a:t>Click to edit Quote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6651" y="5669280"/>
            <a:ext cx="8807117" cy="466344"/>
          </a:xfrm>
        </p:spPr>
        <p:txBody>
          <a:bodyPr anchor="ctr">
            <a:normAutofit/>
          </a:bodyPr>
          <a:lstStyle>
            <a:lvl1pPr marL="0" indent="0" algn="l"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86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2775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65B10-D26A-480A-9509-A9831C5E60D8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08349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38760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23876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825818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E5040-F7E0-40EC-B8E9-CED28200FAA3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496913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917458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311121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5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B3EA1-DD0C-4B8D-8364-52024B4530F1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5990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557784"/>
            <a:ext cx="6519080" cy="5779007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02161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6" y="1847088"/>
            <a:ext cx="7342307" cy="1133856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987AA-E4E6-4FC1-BAD8-09A952212C58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628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b">
            <a:no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  <a:lvl2pPr marL="228600" indent="0">
              <a:buNone/>
              <a:defRPr sz="2000"/>
            </a:lvl2pPr>
            <a:lvl3pPr marL="457200" indent="0">
              <a:buNone/>
              <a:defRPr sz="1800"/>
            </a:lvl3pPr>
            <a:lvl4pPr marL="685800" indent="0">
              <a:buNone/>
              <a:defRPr sz="16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CF65F-0E21-48DE-8D75-4BF66A547E8E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8531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D291CE83-67BA-4B15-B48A-7DC5C0636664}" type="datetime1">
              <a:rPr lang="en-US" smtClean="0"/>
              <a:t>06-Oct-26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0288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5" r:id="rId2"/>
    <p:sldLayoutId id="2147483661" r:id="rId3"/>
    <p:sldLayoutId id="2147483712" r:id="rId4"/>
    <p:sldLayoutId id="2147483698" r:id="rId5"/>
    <p:sldLayoutId id="2147483728" r:id="rId6"/>
    <p:sldLayoutId id="2147483735" r:id="rId7"/>
    <p:sldLayoutId id="2147483758" r:id="rId8"/>
    <p:sldLayoutId id="2147483710" r:id="rId9"/>
    <p:sldLayoutId id="2147483755" r:id="rId10"/>
    <p:sldLayoutId id="2147483713" r:id="rId11"/>
    <p:sldLayoutId id="2147483729" r:id="rId12"/>
    <p:sldLayoutId id="2147483662" r:id="rId13"/>
    <p:sldLayoutId id="2147483679" r:id="rId14"/>
    <p:sldLayoutId id="2147483680" r:id="rId15"/>
    <p:sldLayoutId id="2147483681" r:id="rId16"/>
    <p:sldLayoutId id="2147483682" r:id="rId17"/>
    <p:sldLayoutId id="2147483706" r:id="rId18"/>
    <p:sldLayoutId id="2147483689" r:id="rId19"/>
    <p:sldLayoutId id="2147483690" r:id="rId20"/>
    <p:sldLayoutId id="2147483707" r:id="rId21"/>
    <p:sldLayoutId id="2147483708" r:id="rId22"/>
    <p:sldLayoutId id="2147483692" r:id="rId23"/>
    <p:sldLayoutId id="2147483691" r:id="rId24"/>
    <p:sldLayoutId id="2147483732" r:id="rId25"/>
    <p:sldLayoutId id="2147483733" r:id="rId26"/>
    <p:sldLayoutId id="2147483731" r:id="rId27"/>
    <p:sldLayoutId id="2147483730" r:id="rId28"/>
    <p:sldLayoutId id="2147483694" r:id="rId29"/>
    <p:sldLayoutId id="2147483726" r:id="rId30"/>
    <p:sldLayoutId id="2147483693" r:id="rId31"/>
    <p:sldLayoutId id="2147483711" r:id="rId32"/>
    <p:sldLayoutId id="2147483672" r:id="rId33"/>
    <p:sldLayoutId id="2147483673" r:id="rId34"/>
    <p:sldLayoutId id="2147483696" r:id="rId35"/>
    <p:sldLayoutId id="2147483752" r:id="rId36"/>
    <p:sldLayoutId id="2147483754" r:id="rId37"/>
    <p:sldLayoutId id="2147483753" r:id="rId38"/>
    <p:sldLayoutId id="2147483750" r:id="rId39"/>
    <p:sldLayoutId id="2147483742" r:id="rId40"/>
    <p:sldLayoutId id="2147483743" r:id="rId41"/>
    <p:sldLayoutId id="2147483740" r:id="rId42"/>
    <p:sldLayoutId id="2147483664" r:id="rId43"/>
    <p:sldLayoutId id="2147483665" r:id="rId44"/>
    <p:sldLayoutId id="2147483666" r:id="rId45"/>
    <p:sldLayoutId id="2147483667" r:id="rId46"/>
    <p:sldLayoutId id="2147483668" r:id="rId47"/>
    <p:sldLayoutId id="2147483669" r:id="rId48"/>
    <p:sldLayoutId id="2147483685" r:id="rId49"/>
    <p:sldLayoutId id="2147483687" r:id="rId50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321A2-65AC-4C18-CA75-0FB5084CA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5760" y="411480"/>
            <a:ext cx="4654296" cy="3739896"/>
          </a:xfrm>
        </p:spPr>
        <p:txBody>
          <a:bodyPr anchor="t">
            <a:normAutofit/>
          </a:bodyPr>
          <a:lstStyle/>
          <a:p>
            <a:r>
              <a:rPr lang="en-US" sz="2900"/>
              <a:t>Boosting Algorithm – </a:t>
            </a:r>
            <a:r>
              <a:rPr lang="en-US" sz="2900" err="1"/>
              <a:t>AdaBoost_Regression</a:t>
            </a:r>
            <a:endParaRPr lang="en-US" sz="290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2FA3257-663D-61CE-A5D5-22B53DB714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760" y="4873752"/>
            <a:ext cx="4206240" cy="1380744"/>
          </a:xfrm>
        </p:spPr>
        <p:txBody>
          <a:bodyPr anchor="b">
            <a:normAutofit/>
          </a:bodyPr>
          <a:lstStyle/>
          <a:p>
            <a:r>
              <a:rPr lang="en-US" dirty="0"/>
              <a:t>Presented by Rousan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9C19FB-0AA6-48F5-B8DC-FE1CC26F4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36570"/>
            <a:ext cx="10479115" cy="4270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965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6178E99-A518-1CD0-9A0A-6C5246F8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76402" y="412242"/>
            <a:ext cx="3273552" cy="1942773"/>
          </a:xfrm>
        </p:spPr>
        <p:txBody>
          <a:bodyPr/>
          <a:lstStyle/>
          <a:p>
            <a:r>
              <a:rPr lang="en-US" dirty="0"/>
              <a:t>AdaBoost Regression</a:t>
            </a:r>
          </a:p>
        </p:txBody>
      </p:sp>
      <p:pic>
        <p:nvPicPr>
          <p:cNvPr id="5" name="Picture 4" descr="Vaccine storage and manufacturing">
            <a:extLst>
              <a:ext uri="{FF2B5EF4-FFF2-40B4-BE49-F238E27FC236}">
                <a16:creationId xmlns:a16="http://schemas.microsoft.com/office/drawing/2014/main" id="{5CB2DD63-261C-73DD-8E0C-D0D5830E8B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541" r="7721" b="-1"/>
          <a:stretch>
            <a:fillRect/>
          </a:stretch>
        </p:blipFill>
        <p:spPr>
          <a:xfrm>
            <a:off x="20" y="10"/>
            <a:ext cx="7781345" cy="6857990"/>
          </a:xfrm>
          <a:prstGeom prst="rect">
            <a:avLst/>
          </a:prstGeo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7E922-AE57-EC70-406A-77ED03351FF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3273552" cy="2953512"/>
          </a:xfrm>
        </p:spPr>
        <p:txBody>
          <a:bodyPr>
            <a:normAutofit/>
          </a:bodyPr>
          <a:lstStyle/>
          <a:p>
            <a:r>
              <a:rPr lang="en-US" b="0" dirty="0"/>
              <a:t>AdaBoost Regression is a machine learning technique that combines multiple simple models to create one highly accurate predictive model for continuous numerical values</a:t>
            </a:r>
          </a:p>
          <a:p>
            <a:endParaRPr lang="en-US" b="0" dirty="0"/>
          </a:p>
          <a:p>
            <a:endParaRPr lang="en-US" b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497B4E-3C70-7F36-A4BF-7CA5CBC84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 dirty="0"/>
              <a:t>Delivering with confidence</a:t>
            </a:r>
          </a:p>
        </p:txBody>
      </p:sp>
    </p:spTree>
    <p:extLst>
      <p:ext uri="{BB962C8B-B14F-4D97-AF65-F5344CB8AC3E}">
        <p14:creationId xmlns:p14="http://schemas.microsoft.com/office/powerpoint/2010/main" val="3947552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DFF0F84-E51A-47DC-B4DE-8080C90922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4959" y="1028339"/>
            <a:ext cx="6668431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174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5D91-940D-41BB-9FDE-58C2733B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64108"/>
            <a:ext cx="8467558" cy="1554480"/>
          </a:xfrm>
        </p:spPr>
        <p:txBody>
          <a:bodyPr anchor="b">
            <a:normAutofit/>
          </a:bodyPr>
          <a:lstStyle/>
          <a:p>
            <a:r>
              <a:rPr lang="en-US" sz="4100"/>
              <a:t>AdaBoost Regressor — Key Parameters and Their Purpose</a:t>
            </a:r>
          </a:p>
        </p:txBody>
      </p:sp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FFED3790-FDF9-4F5C-B812-D4B7E4970E92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3937610159"/>
              </p:ext>
            </p:extLst>
          </p:nvPr>
        </p:nvGraphicFramePr>
        <p:xfrm>
          <a:off x="836703" y="2333860"/>
          <a:ext cx="8019446" cy="368991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782543">
                  <a:extLst>
                    <a:ext uri="{9D8B030D-6E8A-4147-A177-3AD203B41FA5}">
                      <a16:colId xmlns:a16="http://schemas.microsoft.com/office/drawing/2014/main" val="1479552599"/>
                    </a:ext>
                  </a:extLst>
                </a:gridCol>
                <a:gridCol w="5236903">
                  <a:extLst>
                    <a:ext uri="{9D8B030D-6E8A-4147-A177-3AD203B41FA5}">
                      <a16:colId xmlns:a16="http://schemas.microsoft.com/office/drawing/2014/main" val="3292110663"/>
                    </a:ext>
                  </a:extLst>
                </a:gridCol>
              </a:tblGrid>
              <a:tr h="392165">
                <a:tc>
                  <a:txBody>
                    <a:bodyPr/>
                    <a:lstStyle/>
                    <a:p>
                      <a:r>
                        <a:rPr lang="en-US" sz="1800"/>
                        <a:t>Parameter</a:t>
                      </a:r>
                    </a:p>
                  </a:txBody>
                  <a:tcPr marL="89128" marR="89128" marT="44564" marB="4456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Purpose</a:t>
                      </a:r>
                    </a:p>
                  </a:txBody>
                  <a:tcPr marL="89128" marR="89128" marT="44564" marB="44564" anchor="ctr"/>
                </a:tc>
                <a:extLst>
                  <a:ext uri="{0D108BD9-81ED-4DB2-BD59-A6C34878D82A}">
                    <a16:rowId xmlns:a16="http://schemas.microsoft.com/office/drawing/2014/main" val="2450206950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r>
                        <a:rPr lang="en-US" sz="1800"/>
                        <a:t>estimator</a:t>
                      </a:r>
                    </a:p>
                  </a:txBody>
                  <a:tcPr marL="89128" marR="89128" marT="44564" marB="4456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Specifies the base learner. Shallow decision trees help limit model complexity.</a:t>
                      </a:r>
                    </a:p>
                  </a:txBody>
                  <a:tcPr marL="89128" marR="89128" marT="44564" marB="44564" anchor="ctr"/>
                </a:tc>
                <a:extLst>
                  <a:ext uri="{0D108BD9-81ED-4DB2-BD59-A6C34878D82A}">
                    <a16:rowId xmlns:a16="http://schemas.microsoft.com/office/drawing/2014/main" val="4140362242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r>
                        <a:rPr lang="en-US" sz="1800"/>
                        <a:t>n_estimators</a:t>
                      </a:r>
                    </a:p>
                  </a:txBody>
                  <a:tcPr marL="89128" marR="89128" marT="44564" marB="4456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Sets the maximum number of boosting rounds. The actual number can be lower.</a:t>
                      </a:r>
                    </a:p>
                  </a:txBody>
                  <a:tcPr marL="89128" marR="89128" marT="44564" marB="44564" anchor="ctr"/>
                </a:tc>
                <a:extLst>
                  <a:ext uri="{0D108BD9-81ED-4DB2-BD59-A6C34878D82A}">
                    <a16:rowId xmlns:a16="http://schemas.microsoft.com/office/drawing/2014/main" val="3445730403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r>
                        <a:rPr lang="en-US" sz="1800"/>
                        <a:t>learning_rate</a:t>
                      </a:r>
                    </a:p>
                  </a:txBody>
                  <a:tcPr marL="89128" marR="89128" marT="44564" marB="4456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Controls each learner’s contribution and the observation-weight updates.</a:t>
                      </a:r>
                    </a:p>
                  </a:txBody>
                  <a:tcPr marL="89128" marR="89128" marT="44564" marB="44564" anchor="ctr"/>
                </a:tc>
                <a:extLst>
                  <a:ext uri="{0D108BD9-81ED-4DB2-BD59-A6C34878D82A}">
                    <a16:rowId xmlns:a16="http://schemas.microsoft.com/office/drawing/2014/main" val="1078944457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r>
                        <a:rPr lang="en-US" sz="1800"/>
                        <a:t>loss</a:t>
                      </a:r>
                    </a:p>
                  </a:txBody>
                  <a:tcPr marL="89128" marR="89128" marT="44564" marB="4456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Specifies how regression errors are transformed: 'linear', 'square', or 'exponential'.</a:t>
                      </a:r>
                    </a:p>
                  </a:txBody>
                  <a:tcPr marL="89128" marR="89128" marT="44564" marB="44564" anchor="ctr"/>
                </a:tc>
                <a:extLst>
                  <a:ext uri="{0D108BD9-81ED-4DB2-BD59-A6C34878D82A}">
                    <a16:rowId xmlns:a16="http://schemas.microsoft.com/office/drawing/2014/main" val="3655774740"/>
                  </a:ext>
                </a:extLst>
              </a:tr>
              <a:tr h="659549">
                <a:tc>
                  <a:txBody>
                    <a:bodyPr/>
                    <a:lstStyle/>
                    <a:p>
                      <a:r>
                        <a:rPr lang="en-US" sz="1800"/>
                        <a:t>random_state</a:t>
                      </a:r>
                    </a:p>
                  </a:txBody>
                  <a:tcPr marL="89128" marR="89128" marT="44564" marB="44564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Makes randomized sampling reproducible when a fixed value is used.</a:t>
                      </a:r>
                    </a:p>
                  </a:txBody>
                  <a:tcPr marL="89128" marR="89128" marT="44564" marB="44564" anchor="ctr"/>
                </a:tc>
                <a:extLst>
                  <a:ext uri="{0D108BD9-81ED-4DB2-BD59-A6C34878D82A}">
                    <a16:rowId xmlns:a16="http://schemas.microsoft.com/office/drawing/2014/main" val="344685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9901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5D91-940D-41BB-9FDE-58C2733B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/>
          <a:p>
            <a:r>
              <a:rPr lang="en-US" dirty="0"/>
              <a:t>Python Code</a:t>
            </a:r>
          </a:p>
        </p:txBody>
      </p:sp>
      <p:pic>
        <p:nvPicPr>
          <p:cNvPr id="6" name="Content Placeholder 5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441469C1-3352-44E3-AEF9-C35904112D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722" y="776036"/>
            <a:ext cx="11705082" cy="56769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098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5D91-940D-41BB-9FDE-58C2733B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" y="151598"/>
            <a:ext cx="11924209" cy="528186"/>
          </a:xfrm>
        </p:spPr>
        <p:txBody>
          <a:bodyPr anchor="ctr">
            <a:normAutofit/>
          </a:bodyPr>
          <a:lstStyle/>
          <a:p>
            <a:r>
              <a:rPr lang="en-US" dirty="0"/>
              <a:t>AdaBoost Regressor — First Tree (Example)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1FD6E5-AEE6-46FB-BB4A-679495FF5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59" y="1155151"/>
            <a:ext cx="11924209" cy="49187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7490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5D91-940D-41BB-9FDE-58C2733B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533" y="548639"/>
            <a:ext cx="3494314" cy="5719639"/>
          </a:xfrm>
        </p:spPr>
        <p:txBody>
          <a:bodyPr anchor="t">
            <a:normAutofit/>
          </a:bodyPr>
          <a:lstStyle/>
          <a:p>
            <a:r>
              <a:rPr lang="en-US" dirty="0"/>
              <a:t>How AdaBoost Regression Works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92F07C63-D58F-53B6-D363-23ADF51B146C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408733329"/>
              </p:ext>
            </p:extLst>
          </p:nvPr>
        </p:nvGraphicFramePr>
        <p:xfrm>
          <a:off x="4504268" y="549274"/>
          <a:ext cx="7315200" cy="58064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755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B5D91-940D-41BB-9FDE-58C2733B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877456"/>
            <a:ext cx="4142232" cy="4940661"/>
          </a:xfrm>
        </p:spPr>
        <p:txBody>
          <a:bodyPr anchor="t">
            <a:normAutofit/>
          </a:bodyPr>
          <a:lstStyle/>
          <a:p>
            <a:r>
              <a:rPr lang="en-US" dirty="0"/>
              <a:t>Key Characteristics</a:t>
            </a:r>
          </a:p>
        </p:txBody>
      </p:sp>
      <p:graphicFrame>
        <p:nvGraphicFramePr>
          <p:cNvPr id="14" name="Rectangle 2">
            <a:extLst>
              <a:ext uri="{FF2B5EF4-FFF2-40B4-BE49-F238E27FC236}">
                <a16:creationId xmlns:a16="http://schemas.microsoft.com/office/drawing/2014/main" id="{A82E0809-ABC4-73C9-16D4-2655D6DF0468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06394787"/>
              </p:ext>
            </p:extLst>
          </p:nvPr>
        </p:nvGraphicFramePr>
        <p:xfrm>
          <a:off x="5522913" y="877456"/>
          <a:ext cx="6159500" cy="53908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51133448"/>
      </p:ext>
    </p:extLst>
  </p:cSld>
  <p:clrMapOvr>
    <a:masterClrMapping/>
  </p:clrMapOvr>
</p:sld>
</file>

<file path=ppt/theme/theme1.xml><?xml version="1.0" encoding="utf-8"?>
<a:theme xmlns:a="http://schemas.openxmlformats.org/drawingml/2006/main" name="Helena">
  <a:themeElements>
    <a:clrScheme name="Helen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lena_win32_DN_V3" id="{9F427321-9060-43C1-8B15-4D38A9FA231C}" vid="{F91C65FD-DCCD-4832-9662-5F5E1061559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7815C017-F059-461C-B5CA-F74FA829193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F7CFCFE-9E11-486F-94A1-AD5EF62DEC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EA2E174-8201-44C8-8E86-D532E6482A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308</Words>
  <Application>Microsoft Office PowerPoint</Application>
  <PresentationFormat>Widescreen</PresentationFormat>
  <Paragraphs>29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Neue Haas Grotesk Text Pro</vt:lpstr>
      <vt:lpstr>Helena</vt:lpstr>
      <vt:lpstr>Boosting Algorithm – AdaBoost_Regression</vt:lpstr>
      <vt:lpstr>AdaBoost Regression</vt:lpstr>
      <vt:lpstr>PowerPoint Presentation</vt:lpstr>
      <vt:lpstr>AdaBoost Regressor — Key Parameters and Their Purpose</vt:lpstr>
      <vt:lpstr>Python Code</vt:lpstr>
      <vt:lpstr>AdaBoost Regressor — First Tree (Example)</vt:lpstr>
      <vt:lpstr>How AdaBoost Regression Works</vt:lpstr>
      <vt:lpstr>Key Characteristics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Boosting Algorithm – AdaBoost_Regression</dc:title>
  <dc:creator>Rousan Meerasa</dc:creator>
  <cp:lastModifiedBy>Rousan Meerasa</cp:lastModifiedBy>
  <cp:revision>4</cp:revision>
  <dcterms:created xsi:type="dcterms:W3CDTF">2026-10-06T11:23:27Z</dcterms:created>
  <dcterms:modified xsi:type="dcterms:W3CDTF">2026-10-06T15:03:43Z</dcterms:modified>
</cp:coreProperties>
</file>